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Meiryo UI"/>
              </a:rPr>
              <a:t>ボートレースAI予想アプリ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00B4D8"/>
                </a:solidFill>
                <a:latin typeface="Meiryo UI"/>
              </a:rPr>
              <a:t>販売戦略プレゼンテーション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0F4F8"/>
                </a:solidFill>
                <a:latin typeface="Meiryo UI"/>
              </a:rPr>
              <a:t>迷わせない予想AI。全場対応、1点勝負。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217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64748B"/>
                </a:solidFill>
                <a:latin typeface="Meiryo UI"/>
              </a:rPr>
              <a:t>2026年3月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73152" cy="5669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eiryo UI"/>
              </a:rPr>
              <a:t>目次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09728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1B3E"/>
                </a:solidFill>
                <a:latin typeface="Meiryo UI"/>
              </a:rPr>
              <a:t>01  サービス概要・強み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03120"/>
            <a:ext cx="109728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4883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D1B3E"/>
                </a:solidFill>
                <a:latin typeface="Meiryo UI"/>
              </a:rPr>
              <a:t>02  ターゲットユーザー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43200"/>
            <a:ext cx="109728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788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1B3E"/>
                </a:solidFill>
                <a:latin typeface="Meiryo UI"/>
              </a:rPr>
              <a:t>03  差別化ポイント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383279"/>
            <a:ext cx="109728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42899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D1B3E"/>
                </a:solidFill>
                <a:latin typeface="Meiryo UI"/>
              </a:rPr>
              <a:t>04  価格・プラン設計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23360"/>
            <a:ext cx="109728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690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1B3E"/>
                </a:solidFill>
                <a:latin typeface="Meiryo UI"/>
              </a:rPr>
              <a:t>05  集客チャネル戦略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663440"/>
            <a:ext cx="109728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70915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D1B3E"/>
                </a:solidFill>
                <a:latin typeface="Meiryo UI"/>
              </a:rPr>
              <a:t>06  KPI・重要指標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303519"/>
            <a:ext cx="109728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34923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1B3E"/>
                </a:solidFill>
                <a:latin typeface="Meiryo UI"/>
              </a:rPr>
              <a:t>07  アクションプラン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eiryo UI"/>
              </a:rPr>
              <a:t>01  サービス概要・強み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5486400" cy="1920240"/>
          </a:xfrm>
          <a:prstGeom prst="rect">
            <a:avLst/>
          </a:prstGeom>
          <a:solidFill>
            <a:srgbClr val="1A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548640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2763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1B3E"/>
                </a:solidFill>
                <a:latin typeface="Meiryo UI"/>
              </a:rPr>
              <a:t>全場対応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Meiryo UI"/>
              </a:rPr>
              <a:t>全国24場すべてのレースに対応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486400" cy="1920240"/>
          </a:xfrm>
          <a:prstGeom prst="rect">
            <a:avLst/>
          </a:prstGeom>
          <a:solidFill>
            <a:srgbClr val="1A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554480"/>
            <a:ext cx="5486400" cy="5029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1B3E"/>
                </a:solidFill>
                <a:latin typeface="Meiryo UI"/>
              </a:rPr>
              <a:t>1点予想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4884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Meiryo UI"/>
              </a:rPr>
              <a:t>迷いをなくす単一予想で潔く勝負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840480"/>
            <a:ext cx="5486400" cy="1920240"/>
          </a:xfrm>
          <a:prstGeom prst="rect">
            <a:avLst/>
          </a:prstGeom>
          <a:solidFill>
            <a:srgbClr val="1A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840480"/>
            <a:ext cx="5486400" cy="5029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91363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1B3E"/>
                </a:solidFill>
                <a:latin typeface="Meiryo UI"/>
              </a:rPr>
              <a:t>AI精度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43484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Meiryo UI"/>
              </a:rPr>
              <a:t>機械学習による高精度な予想エンジン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3840480"/>
            <a:ext cx="5486400" cy="1920240"/>
          </a:xfrm>
          <a:prstGeom prst="rect">
            <a:avLst/>
          </a:prstGeom>
          <a:solidFill>
            <a:srgbClr val="1A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840480"/>
            <a:ext cx="548640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91363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1B3E"/>
                </a:solidFill>
                <a:latin typeface="Meiryo UI"/>
              </a:rPr>
              <a:t>本命〜大穴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43484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Meiryo UI"/>
              </a:rPr>
              <a:t>オッズ帯に関わらず幅広くカバー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eiryo UI"/>
              </a:rPr>
              <a:t>02  ターゲットユーザー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303520" cy="4754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303520" cy="548640"/>
          </a:xfrm>
          <a:prstGeom prst="rect">
            <a:avLst/>
          </a:prstGeom>
          <a:solidFill>
            <a:srgbClr val="1A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B4D8"/>
                </a:solidFill>
                <a:latin typeface="Meiryo UI"/>
              </a:rPr>
              <a:t>メインターゲット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Meiryo UI"/>
              </a:rPr>
              <a:t>中級者〜ベテラン</a:t>
            </a:r>
          </a:p>
          <a:p>
            <a:pPr>
              <a:spcBef>
                <a:spcPts val="200"/>
              </a:spcBef>
            </a:pPr>
            <a:r>
              <a:rPr sz="800" b="0">
                <a:solidFill>
                  <a:srgbClr val="FFFFFF"/>
                </a:solidFill>
                <a:latin typeface="Meiryo UI"/>
              </a:rPr>
              <a:t/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F0F4F8"/>
                </a:solidFill>
                <a:latin typeface="Meiryo UI"/>
              </a:rPr>
              <a:t>• 「情報が多すぎて迷う」という悩みを持つ人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F0F4F8"/>
                </a:solidFill>
                <a:latin typeface="Meiryo UI"/>
              </a:rPr>
              <a:t>• 既存サービスの複数予想に不満がある層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F0F4F8"/>
                </a:solidFill>
                <a:latin typeface="Meiryo UI"/>
              </a:rPr>
              <a:t>• 回収率を真剣に考えているユーザー</a:t>
            </a:r>
          </a:p>
          <a:p>
            <a:pPr>
              <a:spcBef>
                <a:spcPts val="200"/>
              </a:spcBef>
            </a:pPr>
            <a:r>
              <a:rPr sz="800" b="0">
                <a:solidFill>
                  <a:srgbClr val="FFFFFF"/>
                </a:solidFill>
                <a:latin typeface="Meiryo UI"/>
              </a:rPr>
              <a:t/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00B4D8"/>
                </a:solidFill>
                <a:latin typeface="Meiryo UI"/>
              </a:rPr>
              <a:t>推定人口：競艇利用者の約40%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5303520" cy="4754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463040"/>
            <a:ext cx="5303520" cy="548640"/>
          </a:xfrm>
          <a:prstGeom prst="rect">
            <a:avLst/>
          </a:prstGeom>
          <a:solidFill>
            <a:srgbClr val="2D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5087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6B35"/>
                </a:solidFill>
                <a:latin typeface="Meiryo UI"/>
              </a:rPr>
              <a:t>サブターゲット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4884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Meiryo UI"/>
              </a:rPr>
              <a:t>初心者</a:t>
            </a:r>
          </a:p>
          <a:p>
            <a:pPr>
              <a:spcBef>
                <a:spcPts val="200"/>
              </a:spcBef>
            </a:pPr>
            <a:r>
              <a:rPr sz="800" b="0">
                <a:solidFill>
                  <a:srgbClr val="FFFFFF"/>
                </a:solidFill>
                <a:latin typeface="Meiryo UI"/>
              </a:rPr>
              <a:t/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F0F4F8"/>
                </a:solidFill>
                <a:latin typeface="Meiryo UI"/>
              </a:rPr>
              <a:t>• 「どれを買えばいいか
  わからない」という人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F0F4F8"/>
                </a:solidFill>
                <a:latin typeface="Meiryo UI"/>
              </a:rPr>
              <a:t>• 1点に絞られているため
  入門ハードルが低い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F0F4F8"/>
                </a:solidFill>
                <a:latin typeface="Meiryo UI"/>
              </a:rPr>
              <a:t>• ボートレース人口拡大の
  取り込み対象</a:t>
            </a:r>
          </a:p>
          <a:p>
            <a:pPr>
              <a:spcBef>
                <a:spcPts val="200"/>
              </a:spcBef>
            </a:pPr>
            <a:r>
              <a:rPr sz="800" b="0">
                <a:solidFill>
                  <a:srgbClr val="FFFFFF"/>
                </a:solidFill>
                <a:latin typeface="Meiryo UI"/>
              </a:rPr>
              <a:t/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FF6B35"/>
                </a:solidFill>
                <a:latin typeface="Meiryo UI"/>
              </a:rPr>
              <a:t>推定人口：新規参入者の約30%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eiryo UI"/>
              </a:rPr>
              <a:t>03  差別化ポイント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303520" cy="4937760"/>
          </a:xfrm>
          <a:prstGeom prst="rect">
            <a:avLst/>
          </a:prstGeom>
          <a:solidFill>
            <a:srgbClr val="3D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8080"/>
                </a:solidFill>
                <a:latin typeface="Meiryo UI"/>
              </a:rPr>
              <a:t>競合サービス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600" b="0">
                <a:solidFill>
                  <a:srgbClr val="FFAAAA"/>
                </a:solidFill>
                <a:latin typeface="Meiryo UI"/>
              </a:rPr>
              <a:t>✗  複数点予想で迷わせる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FFAAAA"/>
                </a:solidFill>
                <a:latin typeface="Meiryo UI"/>
              </a:rPr>
              <a:t>✗  一部の場のみ対応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FFAAAA"/>
                </a:solidFill>
                <a:latin typeface="Meiryo UI"/>
              </a:rPr>
              <a:t>✗  本命寄りの無難な予想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FFAAAA"/>
                </a:solidFill>
                <a:latin typeface="Meiryo UI"/>
              </a:rPr>
              <a:t>✗  的中実績が不透明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FFAAAA"/>
                </a:solidFill>
                <a:latin typeface="Meiryo UI"/>
              </a:rPr>
              <a:t>✗  情報量が多すぎる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338328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6B35"/>
                </a:solidFill>
                <a:latin typeface="Meiryo UI"/>
              </a:rPr>
              <a:t>VS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1463040"/>
            <a:ext cx="5303520" cy="4937760"/>
          </a:xfrm>
          <a:prstGeom prst="rect">
            <a:avLst/>
          </a:prstGeom>
          <a:solidFill>
            <a:srgbClr val="05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5544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6D6A0"/>
                </a:solidFill>
                <a:latin typeface="Meiryo UI"/>
              </a:rPr>
              <a:t>本アプリ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28600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600" b="0">
                <a:solidFill>
                  <a:srgbClr val="80FFC0"/>
                </a:solidFill>
                <a:latin typeface="Meiryo UI"/>
              </a:rPr>
              <a:t>✓  1点予想で意思決定を支援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80FFC0"/>
                </a:solidFill>
                <a:latin typeface="Meiryo UI"/>
              </a:rPr>
              <a:t>✓  全国24場すべて対応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80FFC0"/>
                </a:solidFill>
                <a:latin typeface="Meiryo UI"/>
              </a:rPr>
              <a:t>✓  本命〜大穴まで幅広い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80FFC0"/>
                </a:solidFill>
                <a:latin typeface="Meiryo UI"/>
              </a:rPr>
              <a:t>✓  的中率・回収率を公開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80FFC0"/>
                </a:solidFill>
                <a:latin typeface="Meiryo UI"/>
              </a:rPr>
              <a:t>✓  シンプルで使いやすいUI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eiryo UI"/>
              </a:rPr>
              <a:t>04  価格・プラン設計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3566160" cy="50292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3566160" cy="59436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Meiryo UI"/>
              </a:rPr>
              <a:t>無料プラン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9456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B4D8"/>
                </a:solidFill>
                <a:latin typeface="Meiryo UI"/>
              </a:rPr>
              <a:t>¥0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803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  <a:latin typeface="Meiryo UI"/>
              </a:rPr>
              <a:t>月/永続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375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4F8"/>
                </a:solidFill>
                <a:latin typeface="Meiryo UI"/>
              </a:rPr>
              <a:t>• 1日1レースのみ閲覧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862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4F8"/>
                </a:solidFill>
                <a:latin typeface="Meiryo UI"/>
              </a:rPr>
              <a:t>• 予想精度を体験できる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4F8"/>
                </a:solidFill>
                <a:latin typeface="Meiryo UI"/>
              </a:rPr>
              <a:t>• 広告表示あり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463040"/>
            <a:ext cx="3566160" cy="50292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463040"/>
            <a:ext cx="3566160" cy="594360"/>
          </a:xfrm>
          <a:prstGeom prst="rect">
            <a:avLst/>
          </a:prstGeom>
          <a:solidFill>
            <a:srgbClr val="1A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153619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Meiryo UI"/>
              </a:rPr>
              <a:t>スタンダード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19456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A4F9C"/>
                </a:solidFill>
                <a:latin typeface="Meiryo UI"/>
              </a:rPr>
              <a:t>¥1,980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8803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  <a:latin typeface="Meiryo UI"/>
              </a:rPr>
              <a:t>月額（税込）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3375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4F8"/>
                </a:solidFill>
                <a:latin typeface="Meiryo UI"/>
              </a:rPr>
              <a:t>• 全開催・全レース閲覧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8862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4F8"/>
                </a:solidFill>
                <a:latin typeface="Meiryo UI"/>
              </a:rPr>
              <a:t>• 過去予想の履歴閲覧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4348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4F8"/>
                </a:solidFill>
                <a:latin typeface="Meiryo UI"/>
              </a:rPr>
              <a:t>• メール通知機能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1463040"/>
            <a:ext cx="3566160" cy="50292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8160" y="1463040"/>
            <a:ext cx="3566160" cy="5943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241280" y="1417320"/>
            <a:ext cx="1371600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87000" y="143560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おすすめ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153619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Meiryo UI"/>
              </a:rPr>
              <a:t>プレミアム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219456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6B35"/>
                </a:solidFill>
                <a:latin typeface="Meiryo UI"/>
              </a:rPr>
              <a:t>¥3,980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28803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  <a:latin typeface="Meiryo UI"/>
              </a:rPr>
              <a:t>月額（税込）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3375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4F8"/>
                </a:solidFill>
                <a:latin typeface="Meiryo UI"/>
              </a:rPr>
              <a:t>• スタンダード全機能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38862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4F8"/>
                </a:solidFill>
                <a:latin typeface="Meiryo UI"/>
              </a:rPr>
              <a:t>• 回収率レポート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44348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4F8"/>
                </a:solidFill>
                <a:latin typeface="Meiryo UI"/>
              </a:rPr>
              <a:t>• 的中アラート通知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4983479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0F4F8"/>
                </a:solidFill>
                <a:latin typeface="Meiryo UI"/>
              </a:rPr>
              <a:t>• 優先サポート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solidFill>
            <a:srgbClr val="E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651052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D1B3E"/>
                </a:solidFill>
                <a:latin typeface="Meiryo UI"/>
              </a:rPr>
              <a:t>※ 年払いプランは2ヶ月分無料（約17%割引）　例：スタンダード年払い ¥19,800/年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eiryo UI"/>
              </a:rPr>
              <a:t>05  集客チャネル戦略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3657600" cy="4937760"/>
          </a:xfrm>
          <a:prstGeom prst="rect">
            <a:avLst/>
          </a:prstGeom>
          <a:solidFill>
            <a:srgbClr val="10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3657600" cy="5943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D1B3E"/>
                </a:solidFill>
                <a:latin typeface="Meiryo UI"/>
              </a:rPr>
              <a:t>X（Twitter）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488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B4D8"/>
                </a:solidFill>
                <a:latin typeface="Meiryo UI"/>
              </a:rPr>
              <a:t>優先度 ★★★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06040"/>
            <a:ext cx="329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4F8"/>
                </a:solidFill>
                <a:latin typeface="Meiryo UI"/>
              </a:rPr>
              <a:t>ボートレースクラスタが最も濃いSNS
• 毎日「今日の注目レース」を無料発信
• 的中結果ツイートで信頼構築
• ハッシュタグ活用で自然な拡散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463040"/>
            <a:ext cx="3657600" cy="4937760"/>
          </a:xfrm>
          <a:prstGeom prst="rect">
            <a:avLst/>
          </a:prstGeom>
          <a:solidFill>
            <a:srgbClr val="10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463040"/>
            <a:ext cx="3657600" cy="5943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5087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D1B3E"/>
                </a:solidFill>
                <a:latin typeface="Meiryo UI"/>
              </a:rPr>
              <a:t>YouTube / TikTok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1488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6B35"/>
                </a:solidFill>
                <a:latin typeface="Meiryo UI"/>
              </a:rPr>
              <a:t>優先度 ★★☆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606040"/>
            <a:ext cx="329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4F8"/>
                </a:solidFill>
                <a:latin typeface="Meiryo UI"/>
              </a:rPr>
              <a:t>解説動画で初心者層を取り込む
• レース解説・予想根拠を動画化
• 的中シーンのショート動画
• チャンネル登録からアプリ誘導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463040"/>
            <a:ext cx="3657600" cy="4937760"/>
          </a:xfrm>
          <a:prstGeom prst="rect">
            <a:avLst/>
          </a:prstGeom>
          <a:solidFill>
            <a:srgbClr val="10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463040"/>
            <a:ext cx="3657600" cy="59436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15087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D1B3E"/>
                </a:solidFill>
                <a:latin typeface="Meiryo UI"/>
              </a:rPr>
              <a:t>SEO / ブログ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1488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6D6A0"/>
                </a:solidFill>
                <a:latin typeface="Meiryo UI"/>
              </a:rPr>
              <a:t>優先度 ★★☆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606040"/>
            <a:ext cx="329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4F8"/>
                </a:solidFill>
                <a:latin typeface="Meiryo UI"/>
              </a:rPr>
              <a:t>検索流入で長期的な集客
• 「ボートレース 予想 AI」で上位表示
• 「競艇 点数絞る」等のKWを狙う
• 無料体験への導線設置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eiryo UI"/>
              </a:rPr>
              <a:t>06  KPI・重要指標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2560320" cy="2286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2560320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8191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1B3E"/>
                </a:solidFill>
                <a:latin typeface="Meiryo UI"/>
              </a:rPr>
              <a:t>無料→有料
転換率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B4D8"/>
                </a:solidFill>
                <a:latin typeface="Meiryo UI"/>
              </a:rPr>
              <a:t>5〜10%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63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Meiryo UI"/>
              </a:rPr>
              <a:t>目標値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554480"/>
            <a:ext cx="2560320" cy="2286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554480"/>
            <a:ext cx="2560320" cy="5486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58191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1B3E"/>
                </a:solidFill>
                <a:latin typeface="Meiryo UI"/>
              </a:rPr>
              <a:t>月次
解約率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1945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6D6A0"/>
                </a:solidFill>
                <a:latin typeface="Meiryo UI"/>
              </a:rPr>
              <a:t>5%以下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063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Meiryo UI"/>
              </a:rPr>
              <a:t>目標値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554480"/>
            <a:ext cx="2560320" cy="2286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554480"/>
            <a:ext cx="2560320" cy="5486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58191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1B3E"/>
                </a:solidFill>
                <a:latin typeface="Meiryo UI"/>
              </a:rPr>
              <a:t>月間
アクティブ率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1945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6B35"/>
                </a:solidFill>
                <a:latin typeface="Meiryo UI"/>
              </a:rPr>
              <a:t>70%以上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063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Meiryo UI"/>
              </a:rPr>
              <a:t>目標値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0" y="1554480"/>
            <a:ext cx="2560320" cy="2286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61120" y="1554480"/>
            <a:ext cx="2560320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0" y="158191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1B3E"/>
                </a:solidFill>
                <a:latin typeface="Meiryo UI"/>
              </a:rPr>
              <a:t>的中率
（公開指標）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21945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B4D8"/>
                </a:solidFill>
                <a:latin typeface="Meiryo UI"/>
              </a:rPr>
              <a:t>公開・透明化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3063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Meiryo UI"/>
              </a:rPr>
              <a:t>信頼構築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114800"/>
            <a:ext cx="11338560" cy="23774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206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B4D8"/>
                </a:solidFill>
                <a:latin typeface="Meiryo UI"/>
              </a:rPr>
              <a:t>収益シミュレーション（スタンダードプランのみ）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754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4748B"/>
                </a:solidFill>
                <a:latin typeface="Meiryo UI"/>
              </a:rPr>
              <a:t>3ヶ月後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1663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eiryo UI"/>
              </a:rPr>
              <a:t>有料100名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6235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6D6A0"/>
                </a:solidFill>
                <a:latin typeface="Meiryo UI"/>
              </a:rPr>
              <a:t>¥198,000/月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49039" y="521208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B4D8"/>
                </a:solidFill>
                <a:latin typeface="Meiryo UI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59" y="4754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4748B"/>
                </a:solidFill>
                <a:latin typeface="Meiryo UI"/>
              </a:rPr>
              <a:t>6ヶ月後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59" y="51663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eiryo UI"/>
              </a:rPr>
              <a:t>有料300名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59" y="56235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6D6A0"/>
                </a:solidFill>
                <a:latin typeface="Meiryo UI"/>
              </a:rPr>
              <a:t>¥594,000/月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521208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B4D8"/>
                </a:solidFill>
                <a:latin typeface="Meiryo UI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4754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4748B"/>
                </a:solidFill>
                <a:latin typeface="Meiryo UI"/>
              </a:rPr>
              <a:t>12ヶ月後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51663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eiryo UI"/>
              </a:rPr>
              <a:t>有料1,000名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56235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6D6A0"/>
                </a:solidFill>
                <a:latin typeface="Meiryo UI"/>
              </a:rPr>
              <a:t>¥1,980,000/月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eiryo UI"/>
              </a:rPr>
              <a:t>07  アクションプラン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3657600" cy="5029200"/>
          </a:xfrm>
          <a:prstGeom prst="rect">
            <a:avLst/>
          </a:prstGeom>
          <a:solidFill>
            <a:srgbClr val="0A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3657600" cy="7772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81328"/>
            <a:ext cx="34747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D1B3E"/>
                </a:solidFill>
                <a:latin typeface="Meiryo UI"/>
              </a:rPr>
              <a:t>Phase 1
〜1ヶ月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77440"/>
            <a:ext cx="3291840" cy="640080"/>
          </a:xfrm>
          <a:prstGeom prst="rect">
            <a:avLst/>
          </a:prstGeom>
          <a:solidFill>
            <a:srgbClr val="10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4231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eiryo UI"/>
              </a:rPr>
              <a:t>  無料プランのリリース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291840"/>
            <a:ext cx="3291840" cy="640080"/>
          </a:xfrm>
          <a:prstGeom prst="rect">
            <a:avLst/>
          </a:prstGeom>
          <a:solidFill>
            <a:srgbClr val="10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3375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eiryo UI"/>
              </a:rPr>
              <a:t>  X アカウント開設・毎日投稿開始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206240"/>
            <a:ext cx="3291840" cy="640080"/>
          </a:xfrm>
          <a:prstGeom prst="rect">
            <a:avLst/>
          </a:prstGeom>
          <a:solidFill>
            <a:srgbClr val="10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2519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eiryo UI"/>
              </a:rPr>
              <a:t>  的中実績の記録・公開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120640"/>
            <a:ext cx="3291840" cy="640080"/>
          </a:xfrm>
          <a:prstGeom prst="rect">
            <a:avLst/>
          </a:prstGeom>
          <a:solidFill>
            <a:srgbClr val="10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1663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eiryo UI"/>
              </a:rPr>
              <a:t>  フィードバック収集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463040"/>
            <a:ext cx="3657600" cy="5029200"/>
          </a:xfrm>
          <a:prstGeom prst="rect">
            <a:avLst/>
          </a:prstGeom>
          <a:solidFill>
            <a:srgbClr val="0A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1463040"/>
            <a:ext cx="3657600" cy="7772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1481328"/>
            <a:ext cx="34747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D1B3E"/>
                </a:solidFill>
                <a:latin typeface="Meiryo UI"/>
              </a:rPr>
              <a:t>Phase 2
〜3ヶ月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0560" y="2377440"/>
            <a:ext cx="3291840" cy="640080"/>
          </a:xfrm>
          <a:prstGeom prst="rect">
            <a:avLst/>
          </a:prstGeom>
          <a:solidFill>
            <a:srgbClr val="10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24231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eiryo UI"/>
              </a:rPr>
              <a:t>  有料プラン公開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3291840"/>
            <a:ext cx="3291840" cy="640080"/>
          </a:xfrm>
          <a:prstGeom prst="rect">
            <a:avLst/>
          </a:prstGeom>
          <a:solidFill>
            <a:srgbClr val="10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33375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eiryo UI"/>
              </a:rPr>
              <a:t>  X フォロワー500名目標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80560" y="4206240"/>
            <a:ext cx="3291840" cy="640080"/>
          </a:xfrm>
          <a:prstGeom prst="rect">
            <a:avLst/>
          </a:prstGeom>
          <a:solidFill>
            <a:srgbClr val="10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42519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eiryo UI"/>
              </a:rPr>
              <a:t>  LP（ランディングページ）作成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80560" y="5120640"/>
            <a:ext cx="3291840" cy="640080"/>
          </a:xfrm>
          <a:prstGeom prst="rect">
            <a:avLst/>
          </a:prstGeom>
          <a:solidFill>
            <a:srgbClr val="10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51663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eiryo UI"/>
              </a:rPr>
              <a:t>  YouTube チャンネル開設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1463040"/>
            <a:ext cx="3657600" cy="5029200"/>
          </a:xfrm>
          <a:prstGeom prst="rect">
            <a:avLst/>
          </a:prstGeom>
          <a:solidFill>
            <a:srgbClr val="0A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29600" y="1463040"/>
            <a:ext cx="3657600" cy="7772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1481328"/>
            <a:ext cx="34747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D1B3E"/>
                </a:solidFill>
                <a:latin typeface="Meiryo UI"/>
              </a:rPr>
              <a:t>Phase 3
〜6ヶ月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12480" y="2377440"/>
            <a:ext cx="3291840" cy="640080"/>
          </a:xfrm>
          <a:prstGeom prst="rect">
            <a:avLst/>
          </a:prstGeom>
          <a:solidFill>
            <a:srgbClr val="10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0" y="24231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eiryo UI"/>
              </a:rPr>
              <a:t>  SEO記事の本格展開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12480" y="3291840"/>
            <a:ext cx="3291840" cy="640080"/>
          </a:xfrm>
          <a:prstGeom prst="rect">
            <a:avLst/>
          </a:prstGeom>
          <a:solidFill>
            <a:srgbClr val="10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03920" y="33375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eiryo UI"/>
              </a:rPr>
              <a:t>  プレミアムプラン追加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12480" y="4206240"/>
            <a:ext cx="3291840" cy="640080"/>
          </a:xfrm>
          <a:prstGeom prst="rect">
            <a:avLst/>
          </a:prstGeom>
          <a:solidFill>
            <a:srgbClr val="10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03920" y="42519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eiryo UI"/>
              </a:rPr>
              <a:t>  アフィリエイト・紹介制度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12480" y="5120640"/>
            <a:ext cx="3291840" cy="640080"/>
          </a:xfrm>
          <a:prstGeom prst="rect">
            <a:avLst/>
          </a:prstGeom>
          <a:solidFill>
            <a:srgbClr val="10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03920" y="51663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eiryo UI"/>
              </a:rPr>
              <a:t>  有料会員300名突破目標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0"/>
            <a:ext cx="12188952" cy="1371600"/>
          </a:xfrm>
          <a:prstGeom prst="rect">
            <a:avLst/>
          </a:prstGeom>
          <a:solidFill>
            <a:srgbClr val="1A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Meiryo UI"/>
              </a:rPr>
              <a:t>迷わせない予想AI。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0B4D8"/>
                </a:solidFill>
                <a:latin typeface="Meiryo UI"/>
              </a:rPr>
              <a:t>全場対応、1点勝負。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3749039"/>
            <a:ext cx="4873752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0F4F8"/>
                </a:solidFill>
                <a:latin typeface="Meiryo UI"/>
              </a:rPr>
              <a:t>信頼が最大の購買動機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6634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64748B"/>
                </a:solidFill>
                <a:latin typeface="Meiryo UI"/>
              </a:rPr>
              <a:t>的中実績の公開・透明性・継続投稿から始めましょう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66928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Meiryo UI"/>
              </a:rPr>
              <a:t>ボートレースAI予想アプリ　販売戦略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